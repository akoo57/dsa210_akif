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4"/>
    <p:restoredTop sz="94718"/>
  </p:normalViewPr>
  <p:slideViewPr>
    <p:cSldViewPr snapToGrid="0">
      <p:cViewPr>
        <p:scale>
          <a:sx n="102" d="100"/>
          <a:sy n="102" d="100"/>
        </p:scale>
        <p:origin x="14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T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T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CF333-CA09-F005-F7D7-C94236D95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4186" y="634028"/>
            <a:ext cx="3355942" cy="3732835"/>
          </a:xfrm>
        </p:spPr>
        <p:txBody>
          <a:bodyPr>
            <a:normAutofit/>
          </a:bodyPr>
          <a:lstStyle/>
          <a:p>
            <a:r>
              <a:rPr lang="en-US" sz="3800"/>
              <a:t>The Price of Victory: Analyzing Front Office Strategies in the NBA</a:t>
            </a:r>
            <a:endParaRPr lang="en-TR" sz="3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055BD-38AA-7CFF-E3E9-940E575FD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4186" y="4436462"/>
            <a:ext cx="3355942" cy="1794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TR" dirty="0"/>
              <a:t>Mehmed Akif Şentürk</a:t>
            </a:r>
            <a:endParaRPr lang="en-TR"/>
          </a:p>
          <a:p>
            <a:pPr>
              <a:spcAft>
                <a:spcPts val="600"/>
              </a:spcAft>
            </a:pPr>
            <a:r>
              <a:rPr lang="en-TR" dirty="0"/>
              <a:t>DSA 210 Term Project</a:t>
            </a:r>
            <a:endParaRPr lang="en-TR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pic>
        <p:nvPicPr>
          <p:cNvPr id="5" name="Picture 4" descr="A basketball player with a ball&#10;&#10;AI-generated content may be incorrect.">
            <a:extLst>
              <a:ext uri="{FF2B5EF4-FFF2-40B4-BE49-F238E27FC236}">
                <a16:creationId xmlns:a16="http://schemas.microsoft.com/office/drawing/2014/main" id="{E0C98FBA-8BB3-F6AB-FCDF-6EA3A513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63" y="1340841"/>
            <a:ext cx="4442142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EE2C8-8110-3735-D294-2413FE52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OBJECTIVES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EE70-8732-4399-FB12-E9A8F099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TR" dirty="0"/>
              <a:t>        Project Motivation:	</a:t>
            </a:r>
          </a:p>
          <a:p>
            <a:pPr lvl="1"/>
            <a:r>
              <a:rPr lang="en-TR" i="0" dirty="0"/>
              <a:t>In the modern NBA, </a:t>
            </a:r>
            <a:r>
              <a:rPr lang="en-US" i="0" dirty="0"/>
              <a:t>winning isn't just about on-court talent; it's about financial efficiency and roster engineering.</a:t>
            </a:r>
          </a:p>
          <a:p>
            <a:pPr lvl="1"/>
            <a:r>
              <a:rPr lang="en-US" i="0" dirty="0"/>
              <a:t>Does spending more money bring a championship?</a:t>
            </a:r>
          </a:p>
          <a:p>
            <a:pPr lvl="1"/>
            <a:r>
              <a:rPr lang="en-US" i="0" dirty="0"/>
              <a:t>We aim to move beyond box-score stats and analyze </a:t>
            </a:r>
            <a:r>
              <a:rPr lang="en-US" b="1" i="0" dirty="0"/>
              <a:t>front office decisions.	</a:t>
            </a:r>
          </a:p>
          <a:p>
            <a:pPr marL="530352" lvl="1" indent="0">
              <a:buNone/>
            </a:pPr>
            <a:r>
              <a:rPr lang="en-US" i="0" dirty="0"/>
              <a:t>Objectives:</a:t>
            </a:r>
          </a:p>
          <a:p>
            <a:pPr marL="530352" lvl="1" indent="0">
              <a:buNone/>
            </a:pPr>
            <a:r>
              <a:rPr lang="en-TR" altLang="en-TR" i="0" dirty="0">
                <a:solidFill>
                  <a:srgbClr val="000000"/>
                </a:solidFill>
              </a:rPr>
              <a:t>--</a:t>
            </a:r>
            <a:r>
              <a:rPr lang="en-TR" altLang="en-TR" b="1" i="0" dirty="0">
                <a:solidFill>
                  <a:srgbClr val="000000"/>
                </a:solidFill>
              </a:rPr>
              <a:t>	Analyze Financial Impact:</a:t>
            </a:r>
            <a:r>
              <a:rPr lang="en-TR" altLang="en-TR" i="0" dirty="0">
                <a:solidFill>
                  <a:srgbClr val="000000"/>
                </a:solidFill>
              </a:rPr>
              <a:t> Determine if paying the "Luxury Tax" leads to higher win rates.</a:t>
            </a:r>
          </a:p>
          <a:p>
            <a:pPr marL="530352" lvl="1" indent="0">
              <a:buNone/>
            </a:pPr>
            <a:r>
              <a:rPr lang="en-TR" altLang="en-TR" i="0" dirty="0">
                <a:solidFill>
                  <a:srgbClr val="000000"/>
                </a:solidFill>
              </a:rPr>
              <a:t>--</a:t>
            </a:r>
            <a:r>
              <a:rPr lang="en-TR" altLang="en-TR" b="1" i="0" dirty="0">
                <a:solidFill>
                  <a:srgbClr val="000000"/>
                </a:solidFill>
              </a:rPr>
              <a:t>	Identify Inefficiency:</a:t>
            </a:r>
            <a:r>
              <a:rPr lang="en-TR" altLang="en-TR" i="0" dirty="0">
                <a:solidFill>
                  <a:srgbClr val="000000"/>
                </a:solidFill>
              </a:rPr>
              <a:t> Measure how "Dead Money" (wasted cap space) hurts team performance.</a:t>
            </a:r>
            <a:endParaRPr lang="en-TR" altLang="en-TR" b="1" i="0" dirty="0"/>
          </a:p>
          <a:p>
            <a:pPr marL="530352" lvl="1" indent="0">
              <a:buNone/>
            </a:pPr>
            <a:r>
              <a:rPr lang="en-TR" altLang="en-TR" i="0" dirty="0">
                <a:solidFill>
                  <a:srgbClr val="000000"/>
                </a:solidFill>
              </a:rPr>
              <a:t>--</a:t>
            </a:r>
            <a:r>
              <a:rPr lang="en-TR" altLang="en-TR" b="1" i="0" dirty="0">
                <a:solidFill>
                  <a:srgbClr val="000000"/>
                </a:solidFill>
              </a:rPr>
              <a:t>	Predict Success:</a:t>
            </a:r>
            <a:r>
              <a:rPr lang="en-TR" altLang="en-TR" i="0" dirty="0">
                <a:solidFill>
                  <a:srgbClr val="000000"/>
                </a:solidFill>
              </a:rPr>
              <a:t> Use Machine Learning to find the #1 factor driving winning.</a:t>
            </a:r>
            <a:endParaRPr lang="en-TR" altLang="en-TR" i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TR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1688753-D0B3-D504-DC13-6153E8D98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66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C4C5-3378-46DF-EEB9-951A64A5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441542"/>
          </a:xfrm>
        </p:spPr>
        <p:txBody>
          <a:bodyPr>
            <a:normAutofit/>
          </a:bodyPr>
          <a:lstStyle/>
          <a:p>
            <a:r>
              <a:rPr lang="en-TR" sz="2000" b="1" dirty="0"/>
              <a:t>2)Correlation Matrix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046C87-D1A9-595C-A761-0FF6D1E96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127343"/>
            <a:ext cx="4050777" cy="5561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-- To understand the relationships between our target variable (</a:t>
            </a:r>
            <a:r>
              <a:rPr lang="en-US" sz="1800" b="1" dirty="0" err="1"/>
              <a:t>Win_Percentage</a:t>
            </a:r>
            <a:r>
              <a:rPr lang="en-US" sz="1800" dirty="0"/>
              <a:t>) and the Front Office metrics, we generated a heatmap of correlation coefficients.</a:t>
            </a:r>
          </a:p>
          <a:p>
            <a:pPr marL="0" indent="0">
              <a:buNone/>
            </a:pPr>
            <a:r>
              <a:rPr lang="en-US" sz="1800" dirty="0"/>
              <a:t>-- </a:t>
            </a:r>
            <a:r>
              <a:rPr lang="en-US" sz="1800" b="1" dirty="0"/>
              <a:t>Key Observations: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800" b="1" dirty="0">
                <a:solidFill>
                  <a:srgbClr val="000000"/>
                </a:solidFill>
                <a:latin typeface="+mj-lt"/>
              </a:rPr>
              <a:t>   1) Strongest Positive Correlation:</a:t>
            </a:r>
            <a:r>
              <a:rPr lang="en-TR" altLang="en-TR" sz="1800" dirty="0">
                <a:solidFill>
                  <a:srgbClr val="000000"/>
                </a:solidFill>
                <a:latin typeface="+mj-lt"/>
              </a:rPr>
              <a:t>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800" b="1" dirty="0">
                <a:solidFill>
                  <a:srgbClr val="000000"/>
                </a:solidFill>
              </a:rPr>
              <a:t>Minutes_Continuity </a:t>
            </a:r>
            <a:r>
              <a:rPr lang="en-TR" altLang="en-TR" sz="1800" dirty="0">
                <a:solidFill>
                  <a:srgbClr val="000000"/>
                </a:solidFill>
              </a:rPr>
              <a:t>shows a strong positive color intensity. This gives us the first hint that maintaining the roster is critical for winning.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800" b="1" dirty="0">
                <a:solidFill>
                  <a:srgbClr val="000000"/>
                </a:solidFill>
              </a:rPr>
              <a:t>   3) Weak Correlations:</a:t>
            </a:r>
            <a:r>
              <a:rPr lang="en-TR" altLang="en-TR" sz="1800" dirty="0">
                <a:solidFill>
                  <a:srgbClr val="000000"/>
                </a:solidFill>
              </a:rPr>
              <a:t> Surprisingly, financial metrics like Top3_Salary_Share and Avg_Age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800" dirty="0">
                <a:solidFill>
                  <a:srgbClr val="000000"/>
                </a:solidFill>
              </a:rPr>
              <a:t>show very faint colors, suggesting a weak linear relationship with success.</a:t>
            </a:r>
            <a:endParaRPr lang="en-TR" altLang="en-TR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Content Placeholder 4" descr="A graph with numbers and a bar chart&#10;&#10;AI-generated content may be incorrect.">
            <a:extLst>
              <a:ext uri="{FF2B5EF4-FFF2-40B4-BE49-F238E27FC236}">
                <a16:creationId xmlns:a16="http://schemas.microsoft.com/office/drawing/2014/main" id="{0D7659EE-EBE0-849E-5D27-5FA58F0A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77" y="645106"/>
            <a:ext cx="5735244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8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04FC-7E43-3263-BDFE-E7672532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TR" sz="2000" b="1" dirty="0"/>
              <a:t>3) Boxplots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E4FB3CF-8DA7-6097-460A-46048D5964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2286000"/>
            <a:ext cx="3282694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dirty="0"/>
              <a:t>We analyzed the spread of key variables using Boxplots to identify outliers and league standards.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dirty="0">
                <a:latin typeface="Arial" panose="020B0604020202020204" pitchFamily="34" charset="0"/>
              </a:rPr>
              <a:t>-- </a:t>
            </a:r>
            <a:r>
              <a:rPr lang="en-US" dirty="0"/>
              <a:t>The boxplot reveals massive outliers. While the median tax bill is low (many teams pay $0), a few "super-spenders" pay exponential amounts.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n"/>
            </a:pPr>
            <a:endParaRPr kumimoji="0" lang="en-TR" altLang="en-TR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BC1CFA6F-1540-4ECA-E845-2674B090F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67" y="1053178"/>
            <a:ext cx="6517065" cy="443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6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6D841-C3DB-C836-560A-CD981F88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</p:spPr>
        <p:txBody>
          <a:bodyPr>
            <a:normAutofit/>
          </a:bodyPr>
          <a:lstStyle/>
          <a:p>
            <a:r>
              <a:rPr lang="en-US" sz="6600" noProof="0" dirty="0"/>
              <a:t>		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241439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92EA4F6-564D-47A5-A069-C56EB81E0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201D5-916E-F5FF-8EF7-AD0E8D63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367" y="685800"/>
            <a:ext cx="3742662" cy="5181601"/>
          </a:xfrm>
        </p:spPr>
        <p:txBody>
          <a:bodyPr>
            <a:normAutofit/>
          </a:bodyPr>
          <a:lstStyle/>
          <a:p>
            <a:r>
              <a:rPr lang="en-TR" b="1" dirty="0"/>
              <a:t>Hypotesis 1 :</a:t>
            </a:r>
            <a:br>
              <a:rPr lang="en-TR" b="1" dirty="0"/>
            </a:br>
            <a:br>
              <a:rPr lang="en-TR" b="1" dirty="0"/>
            </a:br>
            <a:r>
              <a:rPr lang="en-US" b="1" dirty="0"/>
              <a:t>Financial Strategies (Superstars)</a:t>
            </a:r>
            <a:br>
              <a:rPr lang="en-US" b="1" dirty="0"/>
            </a:br>
            <a:endParaRPr lang="en-TR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C17EA0-32C4-2C19-5C8C-56B709FAF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563" y="1329267"/>
            <a:ext cx="4461934" cy="45381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6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TR" altLang="en-TR" sz="1600" b="1" dirty="0"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6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TR" altLang="en-TR" sz="1600" b="1" dirty="0"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6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TR" altLang="en-TR" sz="1600" b="1" dirty="0"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6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TR" altLang="en-TR" sz="1600" b="1" dirty="0"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6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H0​: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There is no significant relationship between </a:t>
            </a: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Top3_Salary_Share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and </a:t>
            </a: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Win_Percentage</a:t>
            </a:r>
            <a:endParaRPr lang="en-TR" altLang="en-TR" sz="1600" dirty="0"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TR" altLang="en-TR" sz="1600" b="1" dirty="0">
                <a:latin typeface="+mn-lt"/>
              </a:rPr>
              <a:t>H1​:</a:t>
            </a:r>
            <a:r>
              <a:rPr lang="en-TR" altLang="en-TR" sz="1600" dirty="0">
                <a:latin typeface="+mn-lt"/>
              </a:rPr>
              <a:t> There is a positive relationship; teams that allocate more cap space to top stars win more.</a:t>
            </a:r>
          </a:p>
          <a:p>
            <a:pPr marL="0" indent="0">
              <a:spcAft>
                <a:spcPts val="600"/>
              </a:spcAft>
              <a:buNone/>
            </a:pPr>
            <a:endParaRPr lang="en-TR" altLang="en-TR" sz="1600" dirty="0">
              <a:latin typeface="+mn-lt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TR" altLang="en-TR" sz="1600" b="1" dirty="0">
                <a:latin typeface="+mn-lt"/>
              </a:rPr>
              <a:t>Method</a:t>
            </a:r>
            <a:r>
              <a:rPr lang="en-TR" altLang="en-TR" sz="1600" dirty="0">
                <a:latin typeface="+mn-lt"/>
              </a:rPr>
              <a:t>: Pearson Correlation Test</a:t>
            </a:r>
          </a:p>
          <a:p>
            <a:pPr marL="0" indent="0">
              <a:spcAft>
                <a:spcPts val="600"/>
              </a:spcAft>
              <a:buNone/>
            </a:pPr>
            <a:endParaRPr lang="en-TR" altLang="en-TR" sz="1600" dirty="0">
              <a:latin typeface="+mn-lt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TR" altLang="en-TR" sz="1600" b="1" dirty="0">
                <a:latin typeface="+mn-lt"/>
              </a:rPr>
              <a:t>Result</a:t>
            </a:r>
            <a:r>
              <a:rPr lang="en-TR" altLang="en-TR" sz="1600" dirty="0">
                <a:latin typeface="+mn-lt"/>
              </a:rPr>
              <a:t>: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en-TR" altLang="en-TR" sz="1600" dirty="0">
                <a:latin typeface="+mn-lt"/>
              </a:rPr>
              <a:t>--</a:t>
            </a:r>
            <a:r>
              <a:rPr lang="en-TR" altLang="en-TR" sz="1600" b="1" dirty="0">
                <a:latin typeface="+mn-lt"/>
              </a:rPr>
              <a:t> Coefficient (r):</a:t>
            </a:r>
            <a:r>
              <a:rPr lang="en-TR" altLang="en-TR" sz="1600" dirty="0">
                <a:latin typeface="+mn-lt"/>
              </a:rPr>
              <a:t> 0.1571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en-TR" altLang="en-TR" sz="1600" dirty="0">
                <a:latin typeface="+mn-lt"/>
              </a:rPr>
              <a:t>--</a:t>
            </a:r>
            <a:r>
              <a:rPr lang="en-TR" altLang="en-TR" sz="1600" b="1" dirty="0">
                <a:latin typeface="+mn-lt"/>
              </a:rPr>
              <a:t> p-value:</a:t>
            </a:r>
            <a:r>
              <a:rPr lang="en-TR" altLang="en-TR" sz="1600" dirty="0">
                <a:latin typeface="+mn-lt"/>
              </a:rPr>
              <a:t> </a:t>
            </a:r>
            <a:r>
              <a:rPr lang="en-TR" altLang="en-TR" sz="1600" b="1" dirty="0">
                <a:latin typeface="+mn-lt"/>
              </a:rPr>
              <a:t>0.4072</a:t>
            </a:r>
            <a:r>
              <a:rPr lang="en-TR" altLang="en-TR" sz="1600" dirty="0">
                <a:latin typeface="+mn-lt"/>
              </a:rPr>
              <a:t> (p&gt;0.05)</a:t>
            </a:r>
          </a:p>
          <a:p>
            <a:pPr marL="0" lvl="0" indent="0">
              <a:spcAft>
                <a:spcPts val="600"/>
              </a:spcAft>
              <a:buFontTx/>
              <a:buChar char="•"/>
            </a:pPr>
            <a:endParaRPr lang="en-TR" altLang="en-TR" sz="1600" dirty="0">
              <a:latin typeface="+mn-lt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en-TR" altLang="en-TR" sz="1600" b="1" dirty="0">
                <a:latin typeface="+mn-lt"/>
              </a:rPr>
              <a:t>Conclusion:</a:t>
            </a:r>
            <a:endParaRPr lang="en-TR" altLang="en-TR" sz="1600" dirty="0">
              <a:latin typeface="+mn-lt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en-TR" altLang="en-TR" sz="1600" dirty="0">
                <a:latin typeface="+mn-lt"/>
              </a:rPr>
              <a:t>--</a:t>
            </a:r>
            <a:r>
              <a:rPr lang="en-TR" altLang="en-TR" sz="1600" b="1" dirty="0">
                <a:latin typeface="+mn-lt"/>
              </a:rPr>
              <a:t> Fail to Reject H0​.</a:t>
            </a:r>
            <a:endParaRPr lang="en-TR" altLang="en-TR" sz="1600" dirty="0">
              <a:latin typeface="+mn-lt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en-TR" altLang="en-TR" sz="1600" dirty="0">
                <a:latin typeface="+mn-lt"/>
              </a:rPr>
              <a:t>-- Allocating massive cap space to superstars does </a:t>
            </a:r>
            <a:r>
              <a:rPr lang="en-TR" altLang="en-TR" sz="1600" b="1" dirty="0">
                <a:latin typeface="+mn-lt"/>
              </a:rPr>
              <a:t>not</a:t>
            </a:r>
            <a:r>
              <a:rPr lang="en-TR" altLang="en-TR" sz="1600" dirty="0">
                <a:latin typeface="+mn-lt"/>
              </a:rPr>
              <a:t> significantly predict regular season success</a:t>
            </a:r>
            <a:endParaRPr kumimoji="0" lang="en-TR" altLang="en-TR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6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11A8EAE1-305E-4C3A-BEFC-FA6E5DFF0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5201754" y="392335"/>
            <a:ext cx="1802878" cy="2426365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74800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2EA4F6-564D-47A5-A069-C56EB81E0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57994-3E9E-C015-E871-F731DBF2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367" y="685800"/>
            <a:ext cx="3742662" cy="5181601"/>
          </a:xfrm>
        </p:spPr>
        <p:txBody>
          <a:bodyPr>
            <a:normAutofit/>
          </a:bodyPr>
          <a:lstStyle/>
          <a:p>
            <a:r>
              <a:rPr lang="en-US" b="1" dirty="0"/>
              <a:t>Hypothesis 2: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Luxury Tax Impact</a:t>
            </a:r>
            <a:br>
              <a:rPr lang="en-US" b="1" dirty="0"/>
            </a:b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A53B16-2709-CB63-37B7-BA780A7AE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563" y="1329267"/>
            <a:ext cx="4461934" cy="45381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79350" numCol="1" anchor="b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H0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Paying Luxury Tax has no effect on </a:t>
            </a: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Win_Percentage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TR" altLang="en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H1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Paying Luxury Tax is positively correlated with </a:t>
            </a: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Win_Percentage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TR" altLang="en-TR" sz="16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Method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T-Test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Result:</a:t>
            </a: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dirty="0"/>
              <a:t>-- </a:t>
            </a:r>
            <a:r>
              <a:rPr lang="en-TR" altLang="en-TR" sz="1600" b="1" dirty="0"/>
              <a:t> T-Statistic:</a:t>
            </a:r>
            <a:r>
              <a:rPr lang="en-TR" altLang="en-TR" sz="1600" dirty="0"/>
              <a:t> 1.1082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dirty="0"/>
              <a:t>--</a:t>
            </a:r>
            <a:r>
              <a:rPr lang="en-TR" altLang="en-TR" sz="1600" b="1" dirty="0"/>
              <a:t> p-value:</a:t>
            </a:r>
            <a:r>
              <a:rPr lang="en-TR" altLang="en-TR" sz="1600" dirty="0"/>
              <a:t> </a:t>
            </a:r>
            <a:r>
              <a:rPr lang="en-TR" altLang="en-TR" sz="1600" b="1" dirty="0"/>
              <a:t>0.2772</a:t>
            </a:r>
            <a:r>
              <a:rPr lang="en-TR" altLang="en-TR" sz="1600" dirty="0"/>
              <a:t> (p&gt;0.05)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Conclusion:</a:t>
            </a: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dirty="0"/>
              <a:t>--</a:t>
            </a:r>
            <a:r>
              <a:rPr lang="en-TR" altLang="en-TR" sz="1600" b="1" dirty="0"/>
              <a:t> Fail to Reject H0​.</a:t>
            </a: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dirty="0"/>
              <a:t>-- There is no statistically significant difference in win rates between tax-paying teams and non-tax payers.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11A8EAE1-305E-4C3A-BEFC-FA6E5DFF0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5201754" y="392335"/>
            <a:ext cx="1802878" cy="2426365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3658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6FDAA-9705-E74E-3F3D-9F116485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147B2D-AAC6-7649-0387-24DFBB54D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C7FF4-88CF-D471-1956-7EEDE760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367" y="685800"/>
            <a:ext cx="3742662" cy="5181601"/>
          </a:xfrm>
        </p:spPr>
        <p:txBody>
          <a:bodyPr>
            <a:normAutofit/>
          </a:bodyPr>
          <a:lstStyle/>
          <a:p>
            <a:r>
              <a:rPr lang="en-US" b="1" dirty="0"/>
              <a:t>Hypothesis 3: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Roster Engineering (Continuity)</a:t>
            </a:r>
            <a:br>
              <a:rPr lang="en-US" b="1" dirty="0"/>
            </a:br>
            <a:br>
              <a:rPr lang="en-US" b="1" dirty="0"/>
            </a:b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F50AD0-DABE-38BF-A774-51D49D4B0D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563" y="1329267"/>
            <a:ext cx="4461934" cy="45381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79350" numCol="1" anchor="b" anchorCtr="0" compatLnSpc="1">
            <a:prstTxWarp prst="textNoShape">
              <a:avLst/>
            </a:prstTxWarp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H0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Roster continuity implies no change in success.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TR" altLang="en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H1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 Higher </a:t>
            </a:r>
            <a:r>
              <a:rPr lang="en-US" sz="1600" b="1" dirty="0" err="1"/>
              <a:t>Minutes_Continuity</a:t>
            </a:r>
            <a:r>
              <a:rPr lang="en-US" sz="1600" b="1" dirty="0"/>
              <a:t> </a:t>
            </a:r>
            <a:r>
              <a:rPr lang="en-US" sz="1600" dirty="0"/>
              <a:t>is positively correlated with </a:t>
            </a:r>
            <a:r>
              <a:rPr lang="en-US" sz="1600" b="1" dirty="0" err="1"/>
              <a:t>Win_Percentage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Method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Linear Regression/Pearson Correlation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Result:</a:t>
            </a:r>
            <a:endParaRPr lang="en-TR" altLang="en-T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</a:t>
            </a:r>
            <a:r>
              <a:rPr lang="en-TR" altLang="en-TR" sz="1600" b="1" dirty="0">
                <a:solidFill>
                  <a:srgbClr val="000000"/>
                </a:solidFill>
              </a:rPr>
              <a:t> Correlation Coefficient (r):</a:t>
            </a:r>
            <a:r>
              <a:rPr lang="en-TR" altLang="en-TR" sz="1600" dirty="0">
                <a:solidFill>
                  <a:srgbClr val="000000"/>
                </a:solidFill>
              </a:rPr>
              <a:t> </a:t>
            </a:r>
            <a:r>
              <a:rPr lang="en-TR" altLang="en-TR" sz="1600" b="1" dirty="0">
                <a:solidFill>
                  <a:srgbClr val="000000"/>
                </a:solidFill>
              </a:rPr>
              <a:t>0.6714</a:t>
            </a:r>
            <a:r>
              <a:rPr lang="en-TR" altLang="en-TR" sz="1600" dirty="0">
                <a:solidFill>
                  <a:srgbClr val="000000"/>
                </a:solidFill>
              </a:rPr>
              <a:t> (Strong Positive)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</a:t>
            </a:r>
            <a:r>
              <a:rPr lang="en-TR" altLang="en-TR" sz="1600" b="1" dirty="0">
                <a:solidFill>
                  <a:srgbClr val="000000"/>
                </a:solidFill>
              </a:rPr>
              <a:t> p-value:</a:t>
            </a:r>
            <a:r>
              <a:rPr lang="en-TR" altLang="en-TR" sz="1600" dirty="0">
                <a:solidFill>
                  <a:srgbClr val="000000"/>
                </a:solidFill>
              </a:rPr>
              <a:t> </a:t>
            </a:r>
            <a:r>
              <a:rPr lang="en-TR" altLang="en-TR" sz="1600" b="1" dirty="0">
                <a:solidFill>
                  <a:srgbClr val="000000"/>
                </a:solidFill>
              </a:rPr>
              <a:t>0.0000</a:t>
            </a:r>
            <a:r>
              <a:rPr lang="en-TR" altLang="en-TR" sz="1600" dirty="0">
                <a:solidFill>
                  <a:srgbClr val="000000"/>
                </a:solidFill>
              </a:rPr>
              <a:t> (p&lt;0.05)</a:t>
            </a:r>
            <a:endParaRPr lang="en-TR" altLang="en-TR" sz="16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Conclusion:</a:t>
            </a:r>
            <a:endParaRPr lang="en-TR" altLang="en-T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</a:t>
            </a:r>
            <a:r>
              <a:rPr lang="en-TR" altLang="en-TR" sz="1600" b="1" dirty="0">
                <a:solidFill>
                  <a:srgbClr val="000000"/>
                </a:solidFill>
              </a:rPr>
              <a:t> Reject H0​.</a:t>
            </a:r>
            <a:endParaRPr lang="en-TR" altLang="en-TR" sz="16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</a:t>
            </a:r>
            <a:r>
              <a:rPr lang="en-TR" altLang="en-TR" sz="1600" b="1" dirty="0">
                <a:solidFill>
                  <a:srgbClr val="000000"/>
                </a:solidFill>
              </a:rPr>
              <a:t> Strong evidence found.</a:t>
            </a:r>
            <a:r>
              <a:rPr lang="en-TR" altLang="en-TR" sz="1600" dirty="0">
                <a:solidFill>
                  <a:srgbClr val="000000"/>
                </a:solidFill>
              </a:rPr>
              <a:t> Roster continuity is a highly significant predictor of regular season success.</a:t>
            </a:r>
            <a:endParaRPr lang="en-TR" altLang="en-TR" sz="1600" dirty="0">
              <a:solidFill>
                <a:schemeClr val="tx1"/>
              </a:solidFill>
            </a:endParaRP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4E86E5C5-111D-AA73-1069-5E61AF0D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5201754" y="392335"/>
            <a:ext cx="1802878" cy="2426365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5069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92B90-9712-ED55-C7AD-557D97D4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9DEBD4-09EB-B400-ECD2-1A6D5B837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94D2D-D723-3672-6DFC-66C614142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367" y="685800"/>
            <a:ext cx="3742662" cy="5181601"/>
          </a:xfrm>
        </p:spPr>
        <p:txBody>
          <a:bodyPr>
            <a:normAutofit/>
          </a:bodyPr>
          <a:lstStyle/>
          <a:p>
            <a:r>
              <a:rPr lang="en-US" b="1" dirty="0"/>
              <a:t>Hypothesis 4: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Experience and Defense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2AE15C-2080-602C-82A1-73985EFC2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563" y="1329267"/>
            <a:ext cx="4461934" cy="45381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79350" numCol="1" anchor="b" anchorCtr="0" compatLnSpc="1">
            <a:prstTxWarp prst="textNoShape">
              <a:avLst/>
            </a:prstTxWarp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H0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There is no relationship between </a:t>
            </a:r>
            <a:r>
              <a:rPr lang="en-US" sz="1600" b="1" dirty="0" err="1"/>
              <a:t>Avg_Age</a:t>
            </a:r>
            <a:r>
              <a:rPr lang="en-US" sz="1600" b="1" dirty="0"/>
              <a:t> </a:t>
            </a:r>
            <a:r>
              <a:rPr lang="en-US" sz="1600" dirty="0"/>
              <a:t>and </a:t>
            </a:r>
            <a:r>
              <a:rPr lang="en-US" sz="1600" b="1" dirty="0"/>
              <a:t>Defensive_Rating.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TR" altLang="en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H1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There is a </a:t>
            </a:r>
            <a:r>
              <a:rPr lang="en-US" sz="1600" b="1" dirty="0"/>
              <a:t>negative</a:t>
            </a:r>
            <a:r>
              <a:rPr lang="en-US" sz="1600" dirty="0"/>
              <a:t> relationship (Older age -&gt; Lower/Better Def Rating)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Method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Pearson Correlation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Result:</a:t>
            </a:r>
            <a:endParaRPr lang="en-TR" altLang="en-T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</a:t>
            </a:r>
            <a:r>
              <a:rPr lang="en-TR" altLang="en-TR" sz="1600" b="1" dirty="0">
                <a:solidFill>
                  <a:srgbClr val="000000"/>
                </a:solidFill>
              </a:rPr>
              <a:t> Correlation Coefficient (r):</a:t>
            </a:r>
            <a:r>
              <a:rPr lang="en-TR" altLang="en-TR" sz="1600" dirty="0">
                <a:solidFill>
                  <a:srgbClr val="000000"/>
                </a:solidFill>
              </a:rPr>
              <a:t> -0.1042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 </a:t>
            </a:r>
            <a:r>
              <a:rPr lang="en-TR" altLang="en-TR" sz="1600" b="1" dirty="0">
                <a:solidFill>
                  <a:srgbClr val="000000"/>
                </a:solidFill>
              </a:rPr>
              <a:t>p-value:</a:t>
            </a:r>
            <a:r>
              <a:rPr lang="en-TR" altLang="en-TR" sz="1600" dirty="0">
                <a:solidFill>
                  <a:srgbClr val="000000"/>
                </a:solidFill>
              </a:rPr>
              <a:t> </a:t>
            </a:r>
            <a:r>
              <a:rPr lang="en-TR" altLang="en-TR" sz="1600" b="1" dirty="0">
                <a:solidFill>
                  <a:srgbClr val="000000"/>
                </a:solidFill>
              </a:rPr>
              <a:t>0.5836</a:t>
            </a:r>
            <a:r>
              <a:rPr lang="en-TR" altLang="en-TR" sz="1600" dirty="0">
                <a:solidFill>
                  <a:srgbClr val="000000"/>
                </a:solidFill>
              </a:rPr>
              <a:t> (p&gt;0.05)</a:t>
            </a:r>
            <a:endParaRPr lang="en-TR" altLang="en-TR" sz="16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Conclusion: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 </a:t>
            </a:r>
            <a:r>
              <a:rPr lang="en-TR" altLang="en-TR" sz="1600" b="1" dirty="0">
                <a:solidFill>
                  <a:srgbClr val="000000"/>
                </a:solidFill>
              </a:rPr>
              <a:t>Fail to Reject H0​.</a:t>
            </a:r>
            <a:endParaRPr lang="en-TR" altLang="en-TR" sz="16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 Team age is not a significant predictor of defensive capability. Younger teams can defend just as well as veterans.</a:t>
            </a:r>
            <a:endParaRPr lang="en-TR" altLang="en-TR" sz="1600" dirty="0">
              <a:solidFill>
                <a:schemeClr val="tx1"/>
              </a:solidFill>
            </a:endParaRP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6458485-EE9D-DC96-BF4D-E66ABB72F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5201754" y="392335"/>
            <a:ext cx="1802878" cy="2426365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641289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BF03C-0C78-1FA0-59FC-77CF02C0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A6DCBA-19CF-A795-315E-4B2F5CF00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338F4-509E-F2BA-3C99-15CB9291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367" y="685800"/>
            <a:ext cx="3742662" cy="5181601"/>
          </a:xfrm>
        </p:spPr>
        <p:txBody>
          <a:bodyPr>
            <a:normAutofit/>
          </a:bodyPr>
          <a:lstStyle/>
          <a:p>
            <a:r>
              <a:rPr lang="en-US" b="1" dirty="0"/>
              <a:t>Hypothesis 5: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The "Dead Money" Drag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36128E-8F8C-3DD5-DBA5-7F1E253CF5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562" y="1329267"/>
            <a:ext cx="4675779" cy="45381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79350" numCol="1" anchor="b" anchorCtr="0" compatLnSpc="1">
            <a:prstTxWarp prst="textNoShape">
              <a:avLst/>
            </a:prstTxWarp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H0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 Dead Money has no impact on winning.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TR" altLang="en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H1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 There is a negative relationship between </a:t>
            </a:r>
            <a:r>
              <a:rPr lang="en-US" sz="1600" b="1" dirty="0"/>
              <a:t>Dead_Money_Share </a:t>
            </a:r>
            <a:r>
              <a:rPr lang="en-US" sz="1600" dirty="0"/>
              <a:t>and </a:t>
            </a:r>
            <a:r>
              <a:rPr lang="en-US" sz="1600" b="1" dirty="0" err="1"/>
              <a:t>Win_Percentage</a:t>
            </a:r>
            <a:r>
              <a:rPr lang="en-US" sz="1600" dirty="0"/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TR" altLang="en-TR" sz="1600" b="1" i="0" u="none" strike="noStrike" cap="none" normalizeH="0" baseline="0" dirty="0">
                <a:ln>
                  <a:noFill/>
                </a:ln>
                <a:effectLst/>
              </a:rPr>
              <a:t>Method</a:t>
            </a:r>
            <a:r>
              <a:rPr kumimoji="0" lang="en-TR" altLang="en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lang="en-US" sz="1600" dirty="0"/>
              <a:t>Spearman Rank Correlation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Result:</a:t>
            </a:r>
            <a:endParaRPr lang="en-TR" altLang="en-TR" sz="16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 </a:t>
            </a:r>
            <a:r>
              <a:rPr lang="en-TR" altLang="en-TR" sz="1600" b="1" dirty="0">
                <a:solidFill>
                  <a:srgbClr val="000000"/>
                </a:solidFill>
              </a:rPr>
              <a:t>Correlation Coefficient (rs​):</a:t>
            </a:r>
            <a:r>
              <a:rPr lang="en-TR" altLang="en-TR" sz="1600" dirty="0">
                <a:solidFill>
                  <a:srgbClr val="000000"/>
                </a:solidFill>
              </a:rPr>
              <a:t> </a:t>
            </a:r>
            <a:r>
              <a:rPr lang="en-TR" altLang="en-TR" sz="1600" b="1" dirty="0">
                <a:solidFill>
                  <a:srgbClr val="000000"/>
                </a:solidFill>
              </a:rPr>
              <a:t>-0.4116</a:t>
            </a:r>
            <a:r>
              <a:rPr lang="en-TR" altLang="en-TR" sz="1600" dirty="0">
                <a:solidFill>
                  <a:srgbClr val="000000"/>
                </a:solidFill>
              </a:rPr>
              <a:t> (Moderate Negative)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 </a:t>
            </a:r>
            <a:r>
              <a:rPr lang="en-TR" altLang="en-TR" sz="1600" b="1" dirty="0">
                <a:solidFill>
                  <a:srgbClr val="000000"/>
                </a:solidFill>
              </a:rPr>
              <a:t>p-value:</a:t>
            </a:r>
            <a:r>
              <a:rPr lang="en-TR" altLang="en-TR" sz="1600" dirty="0">
                <a:solidFill>
                  <a:srgbClr val="000000"/>
                </a:solidFill>
              </a:rPr>
              <a:t> </a:t>
            </a:r>
            <a:r>
              <a:rPr lang="en-TR" altLang="en-TR" sz="1600" b="1" dirty="0">
                <a:solidFill>
                  <a:srgbClr val="000000"/>
                </a:solidFill>
              </a:rPr>
              <a:t>0.0238</a:t>
            </a:r>
            <a:r>
              <a:rPr lang="en-TR" altLang="en-TR" sz="1600" dirty="0">
                <a:solidFill>
                  <a:srgbClr val="000000"/>
                </a:solidFill>
              </a:rPr>
              <a:t> (p&lt;0.05)</a:t>
            </a:r>
            <a:endParaRPr lang="en-TR" altLang="en-TR" sz="16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6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600" b="1" dirty="0"/>
              <a:t>Conclusion: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 </a:t>
            </a:r>
            <a:r>
              <a:rPr lang="en-TR" altLang="en-TR" sz="1600" b="1" dirty="0">
                <a:solidFill>
                  <a:srgbClr val="000000"/>
                </a:solidFill>
              </a:rPr>
              <a:t>Reject H0​.</a:t>
            </a:r>
            <a:endParaRPr lang="en-TR" altLang="en-TR" sz="16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TR" altLang="en-TR" sz="1600" dirty="0">
                <a:solidFill>
                  <a:srgbClr val="000000"/>
                </a:solidFill>
              </a:rPr>
              <a:t>-- Statistically significant negative impact. Teams with high "dead money" loads win significantly fewer games.</a:t>
            </a:r>
            <a:endParaRPr lang="en-TR" altLang="en-TR" sz="1600" dirty="0">
              <a:solidFill>
                <a:schemeClr val="tx1"/>
              </a:solidFill>
            </a:endParaRP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3C2E9CE-1D0B-F2F9-D878-B4D3892DF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5201754" y="392335"/>
            <a:ext cx="1802878" cy="2426365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8849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28BD-5FC9-2BF8-E17F-050A13BA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Approach: Predicting Success</a:t>
            </a: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FA2C84-76E5-9744-6707-BBF5E2DD1D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2361096"/>
            <a:ext cx="10064663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To build a predictive model that estimates a team’s Regular Season Win Percentage based on the identified Front Office and Roster Engineering metrics.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TR" altLang="en-TR" sz="1800" dirty="0">
              <a:solidFill>
                <a:srgbClr val="000000"/>
              </a:solidFill>
              <a:latin typeface="+mn-lt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TR" altLang="en-TR" sz="1800" b="1" dirty="0">
                <a:solidFill>
                  <a:srgbClr val="000000"/>
                </a:solidFill>
                <a:latin typeface="+mn-lt"/>
              </a:rPr>
              <a:t>Input Features</a:t>
            </a:r>
            <a:r>
              <a:rPr lang="en-TR" altLang="en-TR" sz="1800" dirty="0">
                <a:solidFill>
                  <a:srgbClr val="000000"/>
                </a:solidFill>
                <a:latin typeface="+mn-lt"/>
              </a:rPr>
              <a:t>: </a:t>
            </a:r>
            <a:r>
              <a:rPr lang="en-TR" altLang="en-TR" sz="1800" b="1" dirty="0">
                <a:solidFill>
                  <a:srgbClr val="000000"/>
                </a:solidFill>
                <a:latin typeface="+mn-lt"/>
              </a:rPr>
              <a:t>Minutes_Continuity, Dead_Money_Share, Defensive_Rating, Offensive_Rating, Avg_Age, Tax_Payer.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TR" altLang="en-TR" sz="1800" b="1" dirty="0">
              <a:solidFill>
                <a:srgbClr val="000000"/>
              </a:solidFill>
              <a:latin typeface="+mn-lt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TR" altLang="en-TR" sz="1800" b="1" dirty="0">
                <a:solidFill>
                  <a:srgbClr val="000000"/>
                </a:solidFill>
                <a:latin typeface="+mn-lt"/>
              </a:rPr>
              <a:t>Target Variable: Win_Percentage </a:t>
            </a:r>
            <a:r>
              <a:rPr lang="en-TR" altLang="en-TR" sz="1800" dirty="0">
                <a:solidFill>
                  <a:srgbClr val="000000"/>
                </a:solidFill>
                <a:latin typeface="+mn-lt"/>
              </a:rPr>
              <a:t>(0.0 to 1.0).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TR" altLang="en-TR" sz="1800" dirty="0">
              <a:solidFill>
                <a:srgbClr val="000000"/>
              </a:solidFill>
              <a:latin typeface="+mn-lt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TR" altLang="en-TR" sz="1800" b="1" dirty="0">
                <a:solidFill>
                  <a:srgbClr val="000000"/>
                </a:solidFill>
                <a:latin typeface="+mn-lt"/>
              </a:rPr>
              <a:t>Model Selection:  </a:t>
            </a:r>
            <a:r>
              <a:rPr lang="en-TR" altLang="en-TR" sz="1800" dirty="0">
                <a:solidFill>
                  <a:srgbClr val="000000"/>
                </a:solidFill>
                <a:latin typeface="+mn-lt"/>
              </a:rPr>
              <a:t>We compared three distinct algorithms to find the best fit for the dataset:</a:t>
            </a:r>
            <a:endParaRPr lang="en-TR" altLang="en-TR" sz="1800" dirty="0">
              <a:latin typeface="+mn-lt"/>
            </a:endParaRPr>
          </a:p>
          <a:p>
            <a:pPr marL="0" lvl="0" indent="0">
              <a:lnSpc>
                <a:spcPct val="100000"/>
              </a:lnSpc>
              <a:buFontTx/>
              <a:buAutoNum type="arabicPeriod"/>
            </a:pPr>
            <a:r>
              <a:rPr lang="en-TR" altLang="en-TR" sz="1800" b="1" dirty="0">
                <a:solidFill>
                  <a:srgbClr val="000000"/>
                </a:solidFill>
                <a:latin typeface="+mn-lt"/>
              </a:rPr>
              <a:t>Linear Regression: </a:t>
            </a:r>
            <a:r>
              <a:rPr lang="en-TR" altLang="en-TR" sz="1800" dirty="0">
                <a:solidFill>
                  <a:srgbClr val="000000"/>
                </a:solidFill>
                <a:latin typeface="+mn-lt"/>
              </a:rPr>
              <a:t>Baseline model for linear relationships.</a:t>
            </a:r>
          </a:p>
          <a:p>
            <a:pPr marL="0" lvl="0" indent="0">
              <a:lnSpc>
                <a:spcPct val="100000"/>
              </a:lnSpc>
              <a:buFontTx/>
              <a:buAutoNum type="arabicPeriod" startAt="2"/>
            </a:pPr>
            <a:r>
              <a:rPr lang="en-TR" altLang="en-TR" sz="1800" b="1" dirty="0">
                <a:solidFill>
                  <a:srgbClr val="000000"/>
                </a:solidFill>
                <a:latin typeface="+mn-lt"/>
              </a:rPr>
              <a:t>Random Forest Regressor: </a:t>
            </a:r>
            <a:r>
              <a:rPr lang="en-TR" altLang="en-TR" sz="1800" dirty="0">
                <a:solidFill>
                  <a:srgbClr val="000000"/>
                </a:solidFill>
                <a:latin typeface="+mn-lt"/>
              </a:rPr>
              <a:t>To capture non-linear complexities.</a:t>
            </a:r>
          </a:p>
          <a:p>
            <a:pPr marL="0" lvl="0" indent="0">
              <a:lnSpc>
                <a:spcPct val="100000"/>
              </a:lnSpc>
              <a:buFontTx/>
              <a:buAutoNum type="arabicPeriod" startAt="3"/>
            </a:pPr>
            <a:r>
              <a:rPr lang="en-TR" altLang="en-TR" sz="1800" b="1" dirty="0">
                <a:solidFill>
                  <a:srgbClr val="000000"/>
                </a:solidFill>
                <a:latin typeface="+mn-lt"/>
              </a:rPr>
              <a:t>Gradient Boosting: </a:t>
            </a:r>
            <a:r>
              <a:rPr lang="en-TR" altLang="en-TR" sz="1800" dirty="0">
                <a:solidFill>
                  <a:srgbClr val="000000"/>
                </a:solidFill>
                <a:latin typeface="+mn-lt"/>
              </a:rPr>
              <a:t>For ensemble learning performance.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TR" altLang="en-TR" sz="1600" dirty="0"/>
          </a:p>
          <a:p>
            <a:pPr marL="0" lvl="0" indent="0">
              <a:lnSpc>
                <a:spcPct val="100000"/>
              </a:lnSpc>
              <a:buNone/>
            </a:pPr>
            <a:endParaRPr lang="en-TR" altLang="en-TR" sz="1600" b="1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R" altLang="en-T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TR" altLang="en-TR" sz="1600" dirty="0">
              <a:solidFill>
                <a:srgbClr val="000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R" altLang="en-T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664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204626-2220-4678-A939-FD94EA7B5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9D058-1B09-40E1-EE0C-17C3407A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958837" cy="1485900"/>
          </a:xfrm>
        </p:spPr>
        <p:txBody>
          <a:bodyPr>
            <a:normAutofit/>
          </a:bodyPr>
          <a:lstStyle/>
          <a:p>
            <a:r>
              <a:rPr lang="en-US" dirty="0"/>
              <a:t>Model Evaluation &amp; Feature Importance</a:t>
            </a: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DFB2D4-9C08-FA5B-DCC1-A2BE780E5D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4743" y="2079321"/>
            <a:ext cx="5958837" cy="37880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effectLst/>
              </a:rPr>
              <a:t>Performance Comparison:</a:t>
            </a:r>
            <a:endParaRPr kumimoji="0" lang="en-TR" altLang="en-TR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effectLst/>
              </a:rPr>
              <a:t>-- Winner: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effectLst/>
              </a:rPr>
              <a:t> 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effectLst/>
              </a:rPr>
              <a:t>Linear Regression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effectLst/>
              </a:rPr>
              <a:t> achieved the highest accuracy with an 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effectLst/>
              </a:rPr>
              <a:t>R2 Score of 0.7127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TR" altLang="en-TR" sz="1400" i="0" u="none" strike="noStrike" cap="none" normalizeH="0" baseline="0" dirty="0">
                <a:ln>
                  <a:noFill/>
                </a:ln>
                <a:effectLst/>
              </a:rPr>
              <a:t>--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effectLst/>
              </a:rPr>
              <a:t>Comparison: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effectLst/>
              </a:rPr>
              <a:t> Complex models like Random Forest (R2≈0.55) suffered from overfitting due to the limited sample size (30 NBA teams). The linear nature of the strongest features (Continuity and Defense) favored the simpler regression model.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TR" altLang="en-TR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effectLst/>
              </a:rPr>
              <a:t>Model Accuracy:</a:t>
            </a:r>
            <a:endParaRPr kumimoji="0" lang="en-TR" altLang="en-TR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effectLst/>
              </a:rPr>
              <a:t>-- With an R2 of 0.71, our model explains 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effectLst/>
              </a:rPr>
              <a:t>71% of the variance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effectLst/>
              </a:rPr>
              <a:t> in team success, making it a robust tool for strategic planning.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n"/>
              <a:tabLst/>
            </a:pPr>
            <a:endParaRPr kumimoji="0" lang="en-TR" altLang="en-TR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400" b="1" dirty="0"/>
              <a:t>Feature Importance Analysis:</a:t>
            </a:r>
            <a:endParaRPr lang="en-TR" altLang="en-TR" sz="14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TR" altLang="en-TR" sz="1400" dirty="0"/>
              <a:t>--The model coefficients highlight the most critical factors for winning: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TR" altLang="en-TR" sz="1400" b="1" dirty="0"/>
              <a:t>Defensive Rating (Negative Coeff):</a:t>
            </a:r>
            <a:r>
              <a:rPr lang="en-TR" altLang="en-TR" sz="1400" dirty="0"/>
              <a:t> The strongest predictor. Lower rating (better defense) directly drives wins.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AutoNum type="arabicPeriod" startAt="2"/>
            </a:pPr>
            <a:r>
              <a:rPr lang="en-TR" altLang="en-TR" sz="1400" b="1" dirty="0"/>
              <a:t>Minutes Continuity (Positive Coeff):</a:t>
            </a:r>
            <a:r>
              <a:rPr lang="en-TR" altLang="en-TR" sz="1400" dirty="0"/>
              <a:t> Confirmed as the most vital roster construction metric.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AutoNum type="arabicPeriod" startAt="3"/>
            </a:pPr>
            <a:r>
              <a:rPr lang="en-TR" altLang="en-TR" sz="1400" b="1" dirty="0"/>
              <a:t>Dead Money (Negative Coeff):</a:t>
            </a:r>
            <a:r>
              <a:rPr lang="en-TR" altLang="en-TR" sz="1400" dirty="0"/>
              <a:t> Acts as a significant drag on performance.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TR" altLang="en-TR" sz="14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R" altLang="en-TR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97D8A6-1C5A-42B6-AE78-F3D0F9BDF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  <p:pic>
        <p:nvPicPr>
          <p:cNvPr id="7" name="Picture 6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4D8D4979-F784-9E09-B7D1-ED7CC3CA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661" y="1912042"/>
            <a:ext cx="4184713" cy="303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62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16AD-6D36-6425-EE43-3B99B844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6E8BE3-08CD-1560-CA11-620227AD91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5299" y="1290252"/>
            <a:ext cx="113449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1. The "Superteam" Myth is Busted:</a:t>
            </a: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-- Our analysis proved that 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financial dominance does not equal success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Neither allocating massive cap space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top 3 stars nor paying the Luxury Tax showed a significant correlation with winning. You cannot simply "buy" a championship in the regular season.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2. Continuity is the New Market Inefficiency:</a:t>
            </a: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-- The strongest predictor of success was 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Roster Continuity (r=0.67)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Teams that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kept their core rotation together significantly outperformed those that rebuilt, regardless of talent level. Chemistry is a measurable asset.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3. Defense &amp; Efficiency Drive Wins:</a:t>
            </a: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-- Our Machine Learning model (R2=0.71) identified 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Defensive Rating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and 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Low Dead Money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as critical success factors. Inefficiency (paying players not to play) is a silent killer of team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73668-948A-E851-ACD5-34AAE1B50DD1}"/>
              </a:ext>
            </a:extLst>
          </p:cNvPr>
          <p:cNvSpPr txBox="1"/>
          <p:nvPr/>
        </p:nvSpPr>
        <p:spPr>
          <a:xfrm>
            <a:off x="1371600" y="3939289"/>
            <a:ext cx="56204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+mj-lt"/>
              </a:rPr>
              <a:t>Recommendation GMs</a:t>
            </a:r>
            <a:endParaRPr lang="en-TR" sz="4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54B67-DFB8-2465-7A57-9D9A1D5A552D}"/>
              </a:ext>
            </a:extLst>
          </p:cNvPr>
          <p:cNvSpPr txBox="1"/>
          <p:nvPr/>
        </p:nvSpPr>
        <p:spPr>
          <a:xfrm>
            <a:off x="745300" y="4884095"/>
            <a:ext cx="11446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TR" altLang="en-TR" sz="1600" dirty="0">
                <a:solidFill>
                  <a:srgbClr val="000000"/>
                </a:solidFill>
              </a:rPr>
              <a:t>-- Based on the data, a winning Front Office strategy should prioritize retention over acquisition.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TR" altLang="en-TR" sz="1600" dirty="0">
                <a:solidFill>
                  <a:srgbClr val="000000"/>
                </a:solidFill>
              </a:rPr>
              <a:t>-- Instead of chasing expensive free agents or trading for superstars (high financial risk), teams should invest in developing a defensive identity and keeping their core group together for multiple seasons.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TR" altLang="en-TR" sz="1600" dirty="0">
              <a:solidFill>
                <a:srgbClr val="000000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TR" altLang="en-TR" sz="1600" b="1" dirty="0">
                <a:solidFill>
                  <a:srgbClr val="000000"/>
                </a:solidFill>
              </a:rPr>
              <a:t>-- Final Verdict:</a:t>
            </a:r>
            <a:r>
              <a:rPr lang="en-TR" altLang="en-TR" sz="1600" dirty="0">
                <a:solidFill>
                  <a:srgbClr val="000000"/>
                </a:solidFill>
              </a:rPr>
              <a:t> </a:t>
            </a:r>
            <a:r>
              <a:rPr lang="en-TR" altLang="en-TR" sz="1600" b="1" dirty="0">
                <a:solidFill>
                  <a:srgbClr val="000000"/>
                </a:solidFill>
              </a:rPr>
              <a:t>"Chemistry &gt; Cash"</a:t>
            </a:r>
            <a:endParaRPr lang="en-TR" altLang="en-TR" sz="1600" dirty="0">
              <a:solidFill>
                <a:srgbClr val="000000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TR" altLang="en-TR" sz="1600" dirty="0">
                <a:solidFill>
                  <a:srgbClr val="000000"/>
                </a:solidFill>
              </a:rPr>
              <a:t>-- Success in the 2024-2025 NBA season is engineered through patience and stability, not just through the checkbook.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TR" altLang="en-TR" dirty="0">
              <a:latin typeface="Arial" panose="020B0604020202020204" pitchFamily="34" charset="0"/>
            </a:endParaRP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0220447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576</TotalTime>
  <Words>1241</Words>
  <Application>Microsoft Macintosh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Franklin Gothic Book</vt:lpstr>
      <vt:lpstr>Wingdings</vt:lpstr>
      <vt:lpstr>Crop</vt:lpstr>
      <vt:lpstr>The Price of Victory: Analyzing Front Office Strategies in the NBA</vt:lpstr>
      <vt:lpstr>MOTIVATION &amp; OBJECTIVES</vt:lpstr>
      <vt:lpstr>2)Correlation Matrix</vt:lpstr>
      <vt:lpstr>3) Boxplots</vt:lpstr>
      <vt:lpstr>  Hypothesis Testing</vt:lpstr>
      <vt:lpstr>Hypotesis 1 :  Financial Strategies (Superstars) </vt:lpstr>
      <vt:lpstr>Hypothesis 2:  Luxury Tax Impact </vt:lpstr>
      <vt:lpstr>Hypothesis 3:  Roster Engineering (Continuity)  </vt:lpstr>
      <vt:lpstr>Hypothesis 4:  Experience and Defense   </vt:lpstr>
      <vt:lpstr>Hypothesis 5:  The "Dead Money" Drag   </vt:lpstr>
      <vt:lpstr>Machine Learning Approach: Predicting Success</vt:lpstr>
      <vt:lpstr>Model Evaluation &amp; Feature Importance</vt:lpstr>
      <vt:lpstr>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Akif Şentürk (Student)</dc:creator>
  <cp:lastModifiedBy>Akif Şentürk (Student)</cp:lastModifiedBy>
  <cp:revision>1</cp:revision>
  <dcterms:created xsi:type="dcterms:W3CDTF">2026-01-08T23:11:40Z</dcterms:created>
  <dcterms:modified xsi:type="dcterms:W3CDTF">2026-01-09T08:47:49Z</dcterms:modified>
</cp:coreProperties>
</file>